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12" y="812711"/>
            <a:ext cx="10566577" cy="47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F6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12" y="1592438"/>
            <a:ext cx="10566488" cy="4452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12" y="812711"/>
            <a:ext cx="10566577" cy="47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F6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12" y="1592438"/>
            <a:ext cx="10566488" cy="4452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12" y="2405393"/>
            <a:ext cx="10883574" cy="919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40"/>
              </a:lnSpc>
              <a:buNone/>
            </a:pPr>
            <a:r>
              <a:rPr lang="en-US" sz="64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Darra AI (درع)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12712" y="3502642"/>
            <a:ext cx="10883574" cy="487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Crisis Prediction to Financial Resilience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712" y="4168070"/>
            <a:ext cx="1088357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Early-warning system for personal financial health: proposal and Week 3 plan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12" y="812712"/>
            <a:ext cx="10883574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Team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12712" y="1643173"/>
            <a:ext cx="3386667" cy="812712"/>
          </a:xfrm>
          <a:prstGeom prst="roundRect">
            <a:avLst>
              <a:gd name="adj" fmla="val 12501"/>
            </a:avLst>
          </a:prstGeom>
          <a:solidFill>
            <a:srgbClr val="1F3160"/>
          </a:solidFill>
          <a:ln/>
        </p:spPr>
        <p:txBody>
          <a:bodyPr wrap="square" lIns="224242" tIns="211542" rIns="137883" bIns="211542" rtlCol="0" anchor="ctr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Youssef Mohamed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402556" y="1643173"/>
            <a:ext cx="3386777" cy="812712"/>
          </a:xfrm>
          <a:prstGeom prst="roundRect">
            <a:avLst>
              <a:gd name="adj" fmla="val 12501"/>
            </a:avLst>
          </a:prstGeom>
          <a:solidFill>
            <a:srgbClr val="1F3160"/>
          </a:solidFill>
          <a:ln/>
        </p:spPr>
        <p:txBody>
          <a:bodyPr wrap="square" lIns="224242" tIns="211542" rIns="137879" bIns="211542" rtlCol="0" anchor="ctr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Mariem Attia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92511" y="1643173"/>
            <a:ext cx="3386777" cy="812712"/>
          </a:xfrm>
          <a:prstGeom prst="roundRect">
            <a:avLst>
              <a:gd name="adj" fmla="val 12501"/>
            </a:avLst>
          </a:prstGeom>
          <a:solidFill>
            <a:srgbClr val="1F3160"/>
          </a:solidFill>
          <a:ln/>
        </p:spPr>
        <p:txBody>
          <a:bodyPr wrap="square" lIns="224242" tIns="211542" rIns="137879" bIns="211542" rtlCol="0" anchor="ctr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Mariam Ebrahim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712" y="2811419"/>
            <a:ext cx="3386667" cy="812712"/>
          </a:xfrm>
          <a:prstGeom prst="roundRect">
            <a:avLst>
              <a:gd name="adj" fmla="val 12501"/>
            </a:avLst>
          </a:prstGeom>
          <a:solidFill>
            <a:srgbClr val="1F3160"/>
          </a:solidFill>
          <a:ln/>
        </p:spPr>
        <p:txBody>
          <a:bodyPr wrap="square" lIns="224242" tIns="211542" rIns="137883" bIns="211542" rtlCol="0" anchor="ctr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Mariana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402556" y="2811419"/>
            <a:ext cx="3386777" cy="812712"/>
          </a:xfrm>
          <a:prstGeom prst="roundRect">
            <a:avLst>
              <a:gd name="adj" fmla="val 12501"/>
            </a:avLst>
          </a:prstGeom>
          <a:solidFill>
            <a:srgbClr val="1F3160"/>
          </a:solidFill>
          <a:ln/>
        </p:spPr>
        <p:txBody>
          <a:bodyPr wrap="square" lIns="224242" tIns="211542" rIns="137879" bIns="211542" rtlCol="0" anchor="ctr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Mariem Abdal Khalek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92511" y="2811419"/>
            <a:ext cx="3386777" cy="812712"/>
          </a:xfrm>
          <a:prstGeom prst="roundRect">
            <a:avLst>
              <a:gd name="adj" fmla="val 12501"/>
            </a:avLst>
          </a:prstGeom>
          <a:solidFill>
            <a:srgbClr val="1F3160"/>
          </a:solidFill>
          <a:ln/>
        </p:spPr>
        <p:txBody>
          <a:bodyPr wrap="square" lIns="224242" tIns="211542" rIns="137879" bIns="211542" rtlCol="0" anchor="ctr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Nervana Mohamed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12" y="812713"/>
            <a:ext cx="10883574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hidden vulnerability: financial fragility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712" y="1643174"/>
            <a:ext cx="3386667" cy="1879534"/>
          </a:xfrm>
          <a:prstGeom prst="roundRect">
            <a:avLst>
              <a:gd name="adj" fmla="val 5406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712" y="1897174"/>
            <a:ext cx="296502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Shocks, not low income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712" y="2272991"/>
            <a:ext cx="2965027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Households collapse from unseen shocks: medical emergencies, local inflation surges, fast-growing debt.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556" y="1643174"/>
            <a:ext cx="3386777" cy="1879534"/>
          </a:xfrm>
          <a:prstGeom prst="roundRect">
            <a:avLst>
              <a:gd name="adj" fmla="val 5406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656556" y="1897174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naive gap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56556" y="2272991"/>
            <a:ext cx="2965140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Personal finance apps track what was already spent. They do not foresee breaking points.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2511" y="1643174"/>
            <a:ext cx="3386777" cy="1879534"/>
          </a:xfrm>
          <a:prstGeom prst="roundRect">
            <a:avLst>
              <a:gd name="adj" fmla="val 5406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46511" y="1897174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local factor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46511" y="2272991"/>
            <a:ext cx="2965140" cy="1021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Inflation spikes and shifting commodity indexes make static budgets obsolete for Egyptian households.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12" y="812712"/>
            <a:ext cx="10883574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Who it serves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712" y="1643173"/>
            <a:ext cx="5181644" cy="1879534"/>
          </a:xfrm>
          <a:prstGeom prst="roundRect">
            <a:avLst>
              <a:gd name="adj" fmla="val 5406"/>
            </a:avLst>
          </a:prstGeom>
          <a:solidFill>
            <a:srgbClr val="1F3160"/>
          </a:solidFill>
          <a:ln/>
        </p:spPr>
      </p:sp>
      <p:sp>
        <p:nvSpPr>
          <p:cNvPr id="4" name="Text 2"/>
          <p:cNvSpPr/>
          <p:nvPr/>
        </p:nvSpPr>
        <p:spPr>
          <a:xfrm>
            <a:off x="1066712" y="1897173"/>
            <a:ext cx="481385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B2C: direct to consumer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712" y="2272991"/>
            <a:ext cx="4813854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Middle-class individuals, gig workers with unstable income, and multi-dependent households seeking a defensive financial shield.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97534" y="1643173"/>
            <a:ext cx="5181755" cy="1879534"/>
          </a:xfrm>
          <a:prstGeom prst="roundRect">
            <a:avLst>
              <a:gd name="adj" fmla="val 5406"/>
            </a:avLst>
          </a:prstGeom>
          <a:solidFill>
            <a:srgbClr val="1F3160"/>
          </a:solidFill>
          <a:ln/>
        </p:spPr>
      </p:sp>
      <p:sp>
        <p:nvSpPr>
          <p:cNvPr id="7" name="Text 5"/>
          <p:cNvSpPr/>
          <p:nvPr/>
        </p:nvSpPr>
        <p:spPr>
          <a:xfrm>
            <a:off x="6451534" y="1897173"/>
            <a:ext cx="481396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B2B: FinTech integration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1534" y="2272991"/>
            <a:ext cx="4813967" cy="1021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FinTech apps (Telda, Instapay, Thndr) add it as a premium retention feature. Micro-finance institutions and neobanks use a predictive Resilience Score beside traditional credit scores to reduce defaults.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12" y="812713"/>
            <a:ext cx="10883574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Financial Digital Twin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712" y="1643174"/>
            <a:ext cx="3386667" cy="1879534"/>
          </a:xfrm>
          <a:prstGeom prst="roundRect">
            <a:avLst>
              <a:gd name="adj" fmla="val 5406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712" y="1897174"/>
            <a:ext cx="296502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Predictive model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712" y="2272993"/>
            <a:ext cx="2965027" cy="523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Forecasts the probability of a cash-flow crisis within 3 to 6 months.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556" y="1643174"/>
            <a:ext cx="3386777" cy="1879534"/>
          </a:xfrm>
          <a:prstGeom prst="roundRect">
            <a:avLst>
              <a:gd name="adj" fmla="val 5406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656556" y="1897174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Continuous tracking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56556" y="2272993"/>
            <a:ext cx="2965140" cy="1021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Reads monthly trends to catch creeping degradation, for example risk rising from 24% in January to 48% in March.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2511" y="1643174"/>
            <a:ext cx="3386777" cy="1879534"/>
          </a:xfrm>
          <a:prstGeom prst="roundRect">
            <a:avLst>
              <a:gd name="adj" fmla="val 5406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46511" y="1897174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Macro feature engine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46511" y="2272993"/>
            <a:ext cx="2965140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Weights local variables such as the Consumer Price Index against household size.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12" y="812710"/>
            <a:ext cx="10883574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Stress testing and optimization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712" y="1643171"/>
            <a:ext cx="5181644" cy="1630605"/>
          </a:xfrm>
          <a:prstGeom prst="roundRect">
            <a:avLst>
              <a:gd name="adj" fmla="val 6231"/>
            </a:avLst>
          </a:prstGeom>
          <a:solidFill>
            <a:srgbClr val="1F3160"/>
          </a:solidFill>
          <a:ln/>
        </p:spPr>
      </p:sp>
      <p:sp>
        <p:nvSpPr>
          <p:cNvPr id="4" name="Text 2"/>
          <p:cNvSpPr/>
          <p:nvPr/>
        </p:nvSpPr>
        <p:spPr>
          <a:xfrm>
            <a:off x="1066712" y="1897171"/>
            <a:ext cx="481385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Interactive stress tests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712" y="2272990"/>
            <a:ext cx="4813854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if a 15,000 EGP medical emergency hits? What if rent rises 20%? The result is a probabilistic resilience rating, not a subtraction.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97534" y="1643171"/>
            <a:ext cx="5181755" cy="1630605"/>
          </a:xfrm>
          <a:prstGeom prst="roundRect">
            <a:avLst>
              <a:gd name="adj" fmla="val 6231"/>
            </a:avLst>
          </a:prstGeom>
          <a:solidFill>
            <a:srgbClr val="1F3160"/>
          </a:solidFill>
          <a:ln/>
        </p:spPr>
      </p:sp>
      <p:sp>
        <p:nvSpPr>
          <p:cNvPr id="7" name="Text 5"/>
          <p:cNvSpPr/>
          <p:nvPr/>
        </p:nvSpPr>
        <p:spPr>
          <a:xfrm>
            <a:off x="6451534" y="1897171"/>
            <a:ext cx="481396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 Action optimizer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1534" y="2272990"/>
            <a:ext cx="4813967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Iterates through small behavioral shifts to find the minimum change that lowers risk, for example postponing non-essential debt repayment versus trimming groceries by 9%.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12" y="812710"/>
            <a:ext cx="10883574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Technology and data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712" y="1643171"/>
            <a:ext cx="3386667" cy="1879534"/>
          </a:xfrm>
          <a:prstGeom prst="roundRect">
            <a:avLst>
              <a:gd name="adj" fmla="val 5406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712" y="1897171"/>
            <a:ext cx="296502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Pipeline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712" y="2272990"/>
            <a:ext cx="2965027" cy="1021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Pandas and NumPy for features. XGBoost or LightGBM with calibrated probabilities. SHAP to explain each risk driver.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556" y="1643171"/>
            <a:ext cx="3386777" cy="1879534"/>
          </a:xfrm>
          <a:prstGeom prst="roundRect">
            <a:avLst>
              <a:gd name="adj" fmla="val 5406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656556" y="1897171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Interface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56556" y="2272990"/>
            <a:ext cx="2965140" cy="1021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SciPy optimization for the Best Action engine. Optional LangChain and Ollama layer for Arabic and English plans. Streamlit dashboard.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2511" y="1643171"/>
            <a:ext cx="3386777" cy="1879534"/>
          </a:xfrm>
          <a:prstGeom prst="roundRect">
            <a:avLst>
              <a:gd name="adj" fmla="val 5406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46511" y="1897171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and honesty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46511" y="2272990"/>
            <a:ext cx="2965140" cy="1021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Kaggle's Give Me Some Credit (GMSC) and UCI datasets. Models predict payment distress, a proxy for cash-flow crisis.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12" y="812710"/>
            <a:ext cx="10883574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Requirement gathering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712" y="1643171"/>
            <a:ext cx="3386667" cy="2502077"/>
          </a:xfrm>
          <a:prstGeom prst="roundRect">
            <a:avLst>
              <a:gd name="adj" fmla="val 4061"/>
            </a:avLst>
          </a:prstGeom>
          <a:solidFill>
            <a:srgbClr val="1F3160"/>
          </a:solidFill>
          <a:ln/>
        </p:spPr>
      </p:sp>
      <p:sp>
        <p:nvSpPr>
          <p:cNvPr id="4" name="Text 2"/>
          <p:cNvSpPr/>
          <p:nvPr/>
        </p:nvSpPr>
        <p:spPr>
          <a:xfrm>
            <a:off x="1066712" y="1897171"/>
            <a:ext cx="296502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Functional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64756" y="2272990"/>
            <a:ext cx="2859363" cy="1643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form for raw customer data, with validation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What-if scenarios and top-3 best actions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Savings coverage next to every scenario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30/90-day and long-term risk views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02556" y="1643171"/>
            <a:ext cx="3386777" cy="2502077"/>
          </a:xfrm>
          <a:prstGeom prst="roundRect">
            <a:avLst>
              <a:gd name="adj" fmla="val 4061"/>
            </a:avLst>
          </a:prstGeom>
          <a:solidFill>
            <a:srgbClr val="1F3160"/>
          </a:solidFill>
          <a:ln/>
        </p:spPr>
      </p:sp>
      <p:sp>
        <p:nvSpPr>
          <p:cNvPr id="7" name="Text 5"/>
          <p:cNvSpPr/>
          <p:nvPr/>
        </p:nvSpPr>
        <p:spPr>
          <a:xfrm>
            <a:off x="4656556" y="1897171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600" y="2272990"/>
            <a:ext cx="2859476" cy="1412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Calibrated probabilities only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prediction through the saved pipeline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Drivers explained by business group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Arabic and English plans (optional)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92511" y="1643171"/>
            <a:ext cx="3386777" cy="2502077"/>
          </a:xfrm>
          <a:prstGeom prst="roundRect">
            <a:avLst>
              <a:gd name="adj" fmla="val 4061"/>
            </a:avLst>
          </a:prstGeom>
          <a:solidFill>
            <a:srgbClr val="1F3160"/>
          </a:solidFill>
          <a:ln/>
        </p:spPr>
      </p:sp>
      <p:sp>
        <p:nvSpPr>
          <p:cNvPr id="10" name="Text 8"/>
          <p:cNvSpPr/>
          <p:nvPr/>
        </p:nvSpPr>
        <p:spPr>
          <a:xfrm>
            <a:off x="8246511" y="1897171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44555" y="2272990"/>
            <a:ext cx="2859476" cy="1181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Users: households, gig workers, FinTech apps, micro-finance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Data: GMSC and UCI only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real savings balance, so the user enters it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12" y="812713"/>
            <a:ext cx="10883574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Literature review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712" y="1643174"/>
            <a:ext cx="3386667" cy="1808537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712" y="1897174"/>
            <a:ext cx="296502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Credit risk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64756" y="2272996"/>
            <a:ext cx="2859363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Give Me Some Credit (Kaggle)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UCI default dataset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Delinquency as a proxy for cash-flow crisis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02556" y="1643174"/>
            <a:ext cx="3386777" cy="1808537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656556" y="1897174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600" y="2272996"/>
            <a:ext cx="2859476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Gradient boosting: XGBoost, LightGBM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Probability calibration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Evaluation beyond accuracy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92511" y="1643174"/>
            <a:ext cx="3386777" cy="1808537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46511" y="1897174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Explainability and action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44555" y="2272996"/>
            <a:ext cx="2859476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SHAP for model drivers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Actionable recommendations under bounds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to add papers and citations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12" y="812713"/>
            <a:ext cx="10883574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Best Actions engine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712" y="1643174"/>
            <a:ext cx="3386667" cy="2377392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712" y="1897174"/>
            <a:ext cx="296502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Search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712" y="2272996"/>
            <a:ext cx="2965027" cy="151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Find the smallest change that brings calibrated risk below the saved threshold, or the largest drop within a budget. XGBoost is not differentiable: use grid, greedy or differential evolution.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556" y="1643174"/>
            <a:ext cx="3386777" cy="2377392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656556" y="1897174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56556" y="2272996"/>
            <a:ext cx="2965140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3 actions, each with the change size, risk before → after, and effort level.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2511" y="1643174"/>
            <a:ext cx="3386777" cy="2377392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46511" y="1897174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Sanity checks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46511" y="2272996"/>
            <a:ext cx="2965140" cy="523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Improving a lever never increases risk. No action violates its bounds.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12" y="812707"/>
            <a:ext cx="10883574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Savings coverage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712" y="1643168"/>
            <a:ext cx="3386667" cy="1879534"/>
          </a:xfrm>
          <a:prstGeom prst="roundRect">
            <a:avLst>
              <a:gd name="adj" fmla="val 5406"/>
            </a:avLst>
          </a:prstGeom>
          <a:solidFill>
            <a:srgbClr val="1F3160"/>
          </a:solidFill>
          <a:ln/>
        </p:spPr>
      </p:sp>
      <p:sp>
        <p:nvSpPr>
          <p:cNvPr id="4" name="Text 2"/>
          <p:cNvSpPr/>
          <p:nvPr/>
        </p:nvSpPr>
        <p:spPr>
          <a:xfrm>
            <a:off x="1066712" y="1897168"/>
            <a:ext cx="296502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Rule-based input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712" y="2272990"/>
            <a:ext cx="2965027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model-based. The user enters liquid savings, since no dataset has a real savings balance.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556" y="1643168"/>
            <a:ext cx="3386777" cy="1879534"/>
          </a:xfrm>
          <a:prstGeom prst="roundRect">
            <a:avLst>
              <a:gd name="adj" fmla="val 5406"/>
            </a:avLst>
          </a:prstGeom>
          <a:solidFill>
            <a:srgbClr val="1F3160"/>
          </a:solidFill>
          <a:ln/>
        </p:spPr>
      </p:sp>
      <p:sp>
        <p:nvSpPr>
          <p:cNvPr id="7" name="Text 5"/>
          <p:cNvSpPr/>
          <p:nvPr/>
        </p:nvSpPr>
        <p:spPr>
          <a:xfrm>
            <a:off x="4656556" y="1897168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Metrics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56556" y="2272990"/>
            <a:ext cx="2965140" cy="1021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runway_months = savings / (fixed expenses + debt payments). shock_coverage = savings / shock amount. Savings left after a shock.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2511" y="1643168"/>
            <a:ext cx="3386777" cy="1879534"/>
          </a:xfrm>
          <a:prstGeom prst="roundRect">
            <a:avLst>
              <a:gd name="adj" fmla="val 5406"/>
            </a:avLst>
          </a:prstGeom>
          <a:solidFill>
            <a:srgbClr val="1F3160"/>
          </a:solidFill>
          <a:ln/>
        </p:spPr>
      </p:sp>
      <p:sp>
        <p:nvSpPr>
          <p:cNvPr id="10" name="Text 8"/>
          <p:cNvSpPr/>
          <p:nvPr/>
        </p:nvSpPr>
        <p:spPr>
          <a:xfrm>
            <a:off x="8246511" y="1897168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Status bands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46511" y="2272990"/>
            <a:ext cx="2965140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Critical, thin or safe with configurable cut-offs, shown next to every scenario result.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12" y="812707"/>
            <a:ext cx="10883574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30/90-day risk presentation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712" y="1643168"/>
            <a:ext cx="3386667" cy="2128463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712" y="1897168"/>
            <a:ext cx="296502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UCI: short term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712" y="2272990"/>
            <a:ext cx="2965027" cy="127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Two risk cards (30-day and 90-day), the trend over 3 time points, a risk band and plain-language drivers. The 90-day card is marked lower confidence: fewer training windows.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556" y="1643168"/>
            <a:ext cx="3386777" cy="2128463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656556" y="1897168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GMSC: long term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56556" y="2272990"/>
            <a:ext cx="2965140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Structural risk over a 24-month horizon. It has no time dimension, so it is never shown as 30/90-day.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2511" y="1643168"/>
            <a:ext cx="3386777" cy="2128463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46511" y="1897168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Explanations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46511" y="2272990"/>
            <a:ext cx="2965140" cy="127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Two separate views: probabilities are never averaged across datasets. SHAP drivers are grouped by business theme: late payments, utilization, income, debt ratio.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12" y="812707"/>
            <a:ext cx="10883574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Streamlit dashboard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712" y="1643168"/>
            <a:ext cx="3386667" cy="1879534"/>
          </a:xfrm>
          <a:prstGeom prst="roundRect">
            <a:avLst>
              <a:gd name="adj" fmla="val 5406"/>
            </a:avLst>
          </a:prstGeom>
          <a:solidFill>
            <a:srgbClr val="1F3160"/>
          </a:solidFill>
          <a:ln/>
        </p:spPr>
      </p:sp>
      <p:sp>
        <p:nvSpPr>
          <p:cNvPr id="4" name="Text 2"/>
          <p:cNvSpPr/>
          <p:nvPr/>
        </p:nvSpPr>
        <p:spPr>
          <a:xfrm>
            <a:off x="1066712" y="1897168"/>
            <a:ext cx="296502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712" y="2272990"/>
            <a:ext cx="2965027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Models loaded once with st.cache_resource. Input form for raw customer data, with validation.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556" y="1643168"/>
            <a:ext cx="3386777" cy="1879534"/>
          </a:xfrm>
          <a:prstGeom prst="roundRect">
            <a:avLst>
              <a:gd name="adj" fmla="val 5406"/>
            </a:avLst>
          </a:prstGeom>
          <a:solidFill>
            <a:srgbClr val="1F3160"/>
          </a:solidFill>
          <a:ln/>
        </p:spPr>
      </p:sp>
      <p:sp>
        <p:nvSpPr>
          <p:cNvPr id="7" name="Text 5"/>
          <p:cNvSpPr/>
          <p:nvPr/>
        </p:nvSpPr>
        <p:spPr>
          <a:xfrm>
            <a:off x="4656556" y="1897168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Tabs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56556" y="2272990"/>
            <a:ext cx="2965140" cy="523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Overview → Why (SHAP) → What-If → Best Actions → Coverage.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2511" y="1643168"/>
            <a:ext cx="3386777" cy="1879534"/>
          </a:xfrm>
          <a:prstGeom prst="roundRect">
            <a:avLst>
              <a:gd name="adj" fmla="val 5406"/>
            </a:avLst>
          </a:prstGeom>
          <a:solidFill>
            <a:srgbClr val="1F3160"/>
          </a:solidFill>
          <a:ln/>
        </p:spPr>
      </p:sp>
      <p:sp>
        <p:nvSpPr>
          <p:cNvPr id="10" name="Text 8"/>
          <p:cNvSpPr/>
          <p:nvPr/>
        </p:nvSpPr>
        <p:spPr>
          <a:xfrm>
            <a:off x="8246511" y="1897168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46511" y="2272990"/>
            <a:ext cx="2965140" cy="1021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profiles for the jury: low, borderline and high risk. Optional stretch: an LLM action plan in Arabic or English.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12" y="812707"/>
            <a:ext cx="10883574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Testing and demo readiness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712" y="1643168"/>
            <a:ext cx="3386667" cy="2128463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712" y="1897168"/>
            <a:ext cx="296502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Logic tests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712" y="2272990"/>
            <a:ext cx="2965027" cy="127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Higher income never increases risk. Derived features stay consistent after every scenario. risk_90 ≥ risk_30 for the same customer, approximately.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556" y="1643168"/>
            <a:ext cx="3386777" cy="2128463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656556" y="1897168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End-to-end run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56556" y="2272990"/>
            <a:ext cx="2965140" cy="523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Raw input → app → calibrated risk → scenario → actions → coverage.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2511" y="1643168"/>
            <a:ext cx="3386777" cy="2128463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46511" y="1897168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46511" y="2272990"/>
            <a:ext cx="2965140" cy="523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Known limitations are recorded for the final report.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12" y="812713"/>
            <a:ext cx="10883574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Rules for Week 3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712" y="1643174"/>
            <a:ext cx="5181644" cy="2270897"/>
          </a:xfrm>
          <a:prstGeom prst="roundRect">
            <a:avLst>
              <a:gd name="adj" fmla="val 4474"/>
            </a:avLst>
          </a:prstGeom>
          <a:solidFill>
            <a:srgbClr val="1F3160"/>
          </a:solidFill>
          <a:ln/>
        </p:spPr>
      </p:sp>
      <p:sp>
        <p:nvSpPr>
          <p:cNvPr id="4" name="Text 2"/>
          <p:cNvSpPr/>
          <p:nvPr/>
        </p:nvSpPr>
        <p:spPr>
          <a:xfrm>
            <a:off x="1066712" y="1897174"/>
            <a:ext cx="481385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Frozen and clean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64756" y="2272990"/>
            <a:ext cx="4708190" cy="1181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Models, calibrators and thresholds are frozen: no retraining.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test set never sets bands, thresholds or action cut-offs.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prediction goes through the saved pipeline.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Scenarios change raw inputs only and respect fixed features.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97534" y="1643174"/>
            <a:ext cx="5181755" cy="2270897"/>
          </a:xfrm>
          <a:prstGeom prst="roundRect">
            <a:avLst>
              <a:gd name="adj" fmla="val 4474"/>
            </a:avLst>
          </a:prstGeom>
          <a:solidFill>
            <a:srgbClr val="1F3160"/>
          </a:solidFill>
          <a:ln/>
        </p:spPr>
      </p:sp>
      <p:sp>
        <p:nvSpPr>
          <p:cNvPr id="7" name="Text 5"/>
          <p:cNvSpPr/>
          <p:nvPr/>
        </p:nvSpPr>
        <p:spPr>
          <a:xfrm>
            <a:off x="6451534" y="1897174"/>
            <a:ext cx="481396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Honest wording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49578" y="2272990"/>
            <a:ext cx="4708303" cy="1412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SHAP explains the model, not causes: say “associated with higher risk”.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Models predict payment distress, a proxy for cash-flow crisis.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Show calibrated probabilities only.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 not rely on accuracy.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12" y="812713"/>
            <a:ext cx="10883574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Project planning and management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712" y="1643168"/>
            <a:ext cx="3386667" cy="2039717"/>
          </a:xfrm>
          <a:prstGeom prst="roundRect">
            <a:avLst>
              <a:gd name="adj" fmla="val 4981"/>
            </a:avLst>
          </a:prstGeom>
          <a:solidFill>
            <a:srgbClr val="1F3160"/>
          </a:solidFill>
          <a:ln/>
        </p:spPr>
      </p:sp>
      <p:sp>
        <p:nvSpPr>
          <p:cNvPr id="4" name="Text 2"/>
          <p:cNvSpPr/>
          <p:nvPr/>
        </p:nvSpPr>
        <p:spPr>
          <a:xfrm>
            <a:off x="1066712" y="1897168"/>
            <a:ext cx="296502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64756" y="2272996"/>
            <a:ext cx="2859363" cy="1181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Weeks 1–3: data and features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Weeks 4–6: training and SHAP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Weeks 7–9: optimizer and LLM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Weeks 10+: dashboard and jury testing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02556" y="1643168"/>
            <a:ext cx="3386777" cy="2039717"/>
          </a:xfrm>
          <a:prstGeom prst="roundRect">
            <a:avLst>
              <a:gd name="adj" fmla="val 4981"/>
            </a:avLst>
          </a:prstGeom>
          <a:solidFill>
            <a:srgbClr val="1F3160"/>
          </a:solidFill>
          <a:ln/>
        </p:spPr>
      </p:sp>
      <p:sp>
        <p:nvSpPr>
          <p:cNvPr id="7" name="Text 5"/>
          <p:cNvSpPr/>
          <p:nvPr/>
        </p:nvSpPr>
        <p:spPr>
          <a:xfrm>
            <a:off x="4656556" y="1897168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 3 focus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600" y="2272996"/>
            <a:ext cx="2859476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Scoring layer to dashboard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Models and thresholds frozen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 report and 3 demo profiles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Then polish and demo preparation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92511" y="1643168"/>
            <a:ext cx="3386777" cy="2039717"/>
          </a:xfrm>
          <a:prstGeom prst="roundRect">
            <a:avLst>
              <a:gd name="adj" fmla="val 4981"/>
            </a:avLst>
          </a:prstGeom>
          <a:solidFill>
            <a:srgbClr val="1F3160"/>
          </a:solidFill>
          <a:ln/>
        </p:spPr>
      </p:sp>
      <p:sp>
        <p:nvSpPr>
          <p:cNvPr id="10" name="Text 8"/>
          <p:cNvSpPr/>
          <p:nvPr/>
        </p:nvSpPr>
        <p:spPr>
          <a:xfrm>
            <a:off x="8246511" y="1897168"/>
            <a:ext cx="29651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A5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44555" y="2272996"/>
            <a:ext cx="2859476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Six team members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Weekly plan board with tasks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F6F3E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Workload and critical items tracked per member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12" y="812713"/>
            <a:ext cx="10883574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0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Deliverables and next stage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2712" y="1643174"/>
            <a:ext cx="5181644" cy="2733256"/>
          </a:xfrm>
          <a:prstGeom prst="roundRect">
            <a:avLst>
              <a:gd name="adj" fmla="val 37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712" y="1897174"/>
            <a:ext cx="481385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Deliverables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64756" y="2273002"/>
            <a:ext cx="4708190" cy="187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Scoring layer (GMSC + UCI) with unified JSON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Scenario engine and scenario library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Recommendations engine and top-3 actions report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Savings coverage module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30/90-day view (UCI) and long-term view (GMSC)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Streamlit dashboard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 report and 3 demo profiles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Updated notebooks and .py modules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97534" y="1643174"/>
            <a:ext cx="5181755" cy="2733256"/>
          </a:xfrm>
          <a:prstGeom prst="roundRect">
            <a:avLst>
              <a:gd name="adj" fmla="val 371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51534" y="1897174"/>
            <a:ext cx="4813967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779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 stage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1534" y="2273002"/>
            <a:ext cx="4813967" cy="523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Final testing, polish, documentation and demo preparation, plus the optional LLM action-plan layer if it is not finished.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ra AI (درع)">
  <a:themeElements>
    <a:clrScheme name="Darra AI (درع)">
      <a:dk1>
        <a:srgbClr val="14213D"/>
      </a:dk1>
      <a:lt1>
        <a:srgbClr val="F6F3EC"/>
      </a:lt1>
      <a:dk2>
        <a:srgbClr val="2B364F"/>
      </a:dk2>
      <a:lt2>
        <a:srgbClr val="BEBFC0"/>
      </a:lt2>
      <a:accent1>
        <a:srgbClr val="1F3160"/>
      </a:accent1>
      <a:accent2>
        <a:srgbClr val="B7791F"/>
      </a:accent2>
      <a:accent3>
        <a:srgbClr val="E0A526"/>
      </a:accent3>
      <a:accent4>
        <a:srgbClr val="9AA0A6"/>
      </a:accent4>
      <a:accent5>
        <a:srgbClr val="9C9FA6"/>
      </a:accent5>
      <a:accent6>
        <a:srgbClr val="7A808C"/>
      </a:accent6>
      <a:hlink>
        <a:srgbClr val="0563C1"/>
      </a:hlink>
      <a:folHlink>
        <a:srgbClr val="954F72"/>
      </a:folHlink>
    </a:clrScheme>
    <a:fontScheme name="Darra AI (درع)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Darra AI (درع)</dc:title>
  <dc:subject/>
  <dc:creator/>
  <cp:lastModifiedBy/>
  <cp:revision>1</cp:revision>
  <dcterms:created xsi:type="dcterms:W3CDTF">2026-10-26T21:28:57Z</dcterms:created>
  <dcterms:modified xsi:type="dcterms:W3CDTF">2026-10-26T21:28:57Z</dcterms:modified>
</cp:coreProperties>
</file>